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project: an end-to-end e-commerce funnel analysis of 5,000 orders, built in Excel and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of the project and the toolchain used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break: everything downstream depends on trusting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checks, each with the finding and the action taken. Note the deliberate no-fabrication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break: from clean data to the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shape of the dataset, and the order status split that sets up the leak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carries 68% of revenue — the single biggest structural risk in the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sits in a narrow band all year; December is the only real break in the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mix is evenly split — no lever there. The revenue story is in the drop-offs.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break: what the business should do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recommendations, ordered by expected revenue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was actually shipped: the Power BI file and the Excel workbook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capability map behind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into the live dashboard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dashboard: KPI cards top, funnel left, trend centre, category and payment splits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recap the scope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675" y="2696040"/>
            <a:ext cx="285650" cy="28565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1466645" y="2694789"/>
            <a:ext cx="2885439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3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ANALYTICS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675" y="3706821"/>
            <a:ext cx="8829674" cy="1709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991"/>
              </a:lnSpc>
              <a:buNone/>
            </a:pPr>
            <a:r>
              <a:rPr lang="en-US" sz="6450" b="1" spc="-112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FUNNEL ANALYSIS</a:t>
            </a:r>
            <a:endParaRPr lang="en-US" sz="6450" dirty="0"/>
          </a:p>
        </p:txBody>
      </p:sp>
      <p:sp>
        <p:nvSpPr>
          <p:cNvPr id="5" name="Shape 3"/>
          <p:cNvSpPr/>
          <p:nvPr/>
        </p:nvSpPr>
        <p:spPr>
          <a:xfrm>
            <a:off x="1047675" y="5797043"/>
            <a:ext cx="1428750" cy="7616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6" name="Text 4"/>
          <p:cNvSpPr/>
          <p:nvPr/>
        </p:nvSpPr>
        <p:spPr>
          <a:xfrm>
            <a:off x="1047675" y="6254158"/>
            <a:ext cx="11420557" cy="470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38" kern="0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Project · 5,000 Orders · 2023–2024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675" y="7295955"/>
            <a:ext cx="11420557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150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· POWER BI · DATA CLEANING · FUNNEL ANALYSIS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29999" y="0"/>
            <a:ext cx="6857974" cy="10286899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9" name="Shape 7"/>
          <p:cNvSpPr/>
          <p:nvPr/>
        </p:nvSpPr>
        <p:spPr>
          <a:xfrm>
            <a:off x="13349757" y="3110383"/>
            <a:ext cx="4066134" cy="4066134"/>
          </a:xfrm>
          <a:prstGeom prst="ellipse">
            <a:avLst/>
          </a:prstGeom>
          <a:ln w="128067">
            <a:solidFill>
              <a:srgbClr val="E872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4539" y="4305635"/>
            <a:ext cx="2768090" cy="1295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57"/>
              </a:lnSpc>
              <a:buNone/>
            </a:pPr>
            <a:r>
              <a:rPr lang="en-US" sz="9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9900" dirty="0"/>
          </a:p>
        </p:txBody>
      </p:sp>
      <p:sp>
        <p:nvSpPr>
          <p:cNvPr id="11" name="Text 9"/>
          <p:cNvSpPr/>
          <p:nvPr/>
        </p:nvSpPr>
        <p:spPr>
          <a:xfrm>
            <a:off x="14245727" y="5677105"/>
            <a:ext cx="2501475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675" y="854949"/>
            <a:ext cx="190475" cy="19047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" name="Text 1"/>
          <p:cNvSpPr/>
          <p:nvPr/>
        </p:nvSpPr>
        <p:spPr>
          <a:xfrm>
            <a:off x="1352335" y="838190"/>
            <a:ext cx="2361427" cy="262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88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ANALYTICS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675" y="1386102"/>
            <a:ext cx="17811887" cy="65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489"/>
              </a:lnSpc>
              <a:buNone/>
            </a:pPr>
            <a:r>
              <a:rPr lang="en-US" sz="4650" b="1" spc="-75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047675" y="2253808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6" name="Text 4"/>
          <p:cNvSpPr/>
          <p:nvPr/>
        </p:nvSpPr>
        <p:spPr>
          <a:xfrm>
            <a:off x="1047675" y="2891893"/>
            <a:ext cx="9078940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38" kern="0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47675" y="3591885"/>
            <a:ext cx="8501190" cy="95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37"/>
              </a:lnSpc>
              <a:buNone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5,000 e-commerce orders across 800 unique customers and 15 actively ordered products.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675" y="4829910"/>
            <a:ext cx="8501190" cy="968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37"/>
              </a:lnSpc>
              <a:buNone/>
            </a:pPr>
            <a:r>
              <a:rPr lang="en-US" sz="24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</a:t>
            </a:r>
            <a:pPr algn="l" indent="0" marL="0">
              <a:lnSpc>
                <a:spcPct val="132837"/>
              </a:lnSpc>
              <a:buNone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full order lifecycle, from placement to delivery, and identify where revenue was being lost.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7675" y="6083943"/>
            <a:ext cx="8501190" cy="968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37"/>
              </a:lnSpc>
              <a:buNone/>
            </a:pPr>
            <a:r>
              <a:rPr lang="en-US" sz="24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</a:t>
            </a:r>
            <a:pPr algn="l" indent="0" marL="0">
              <a:lnSpc>
                <a:spcPct val="132837"/>
              </a:lnSpc>
              <a:buNone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Electronics, Clothing, and Home &amp; Kitchen categories across 2023–2024.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63157" y="2891893"/>
            <a:ext cx="7894719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38" kern="0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063157" y="3496585"/>
            <a:ext cx="7177017" cy="1149603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63157" y="3496585"/>
            <a:ext cx="80042" cy="1149603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28848" y="3757097"/>
            <a:ext cx="628580" cy="628580"/>
          </a:xfrm>
          <a:prstGeom prst="ellipse">
            <a:avLst/>
          </a:prstGeom>
          <a:solidFill>
            <a:srgbClr val="16385A"/>
          </a:solidFill>
          <a:ln/>
        </p:spPr>
      </p:sp>
      <p:sp>
        <p:nvSpPr>
          <p:cNvPr id="14" name="Text 12"/>
          <p:cNvSpPr/>
          <p:nvPr/>
        </p:nvSpPr>
        <p:spPr>
          <a:xfrm>
            <a:off x="10390748" y="3757097"/>
            <a:ext cx="704780" cy="66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305059" y="3744215"/>
            <a:ext cx="3823269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305059" y="4110408"/>
            <a:ext cx="3823269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cleaning, pivot tables, charts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063157" y="4874684"/>
            <a:ext cx="7177017" cy="1149603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63157" y="4874684"/>
            <a:ext cx="80042" cy="1149603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28848" y="5135195"/>
            <a:ext cx="628580" cy="628580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20" name="Text 18"/>
          <p:cNvSpPr/>
          <p:nvPr/>
        </p:nvSpPr>
        <p:spPr>
          <a:xfrm>
            <a:off x="10390748" y="5135195"/>
            <a:ext cx="704780" cy="66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305059" y="5122314"/>
            <a:ext cx="3823269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305059" y="5488506"/>
            <a:ext cx="3823269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with slicers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0063157" y="6252782"/>
            <a:ext cx="7177017" cy="1149603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63157" y="6252782"/>
            <a:ext cx="80042" cy="1149603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8848" y="6513294"/>
            <a:ext cx="628580" cy="628580"/>
          </a:xfrm>
          <a:prstGeom prst="ellipse">
            <a:avLst/>
          </a:prstGeom>
          <a:solidFill>
            <a:srgbClr val="16385A"/>
          </a:solidFill>
          <a:ln/>
        </p:spPr>
      </p:sp>
      <p:sp>
        <p:nvSpPr>
          <p:cNvPr id="26" name="Text 24"/>
          <p:cNvSpPr/>
          <p:nvPr/>
        </p:nvSpPr>
        <p:spPr>
          <a:xfrm>
            <a:off x="10390748" y="6513294"/>
            <a:ext cx="704780" cy="66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305059" y="6500412"/>
            <a:ext cx="3848720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1305059" y="6866604"/>
            <a:ext cx="3848720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orders + 20-product catalog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3176667"/>
            <a:ext cx="12468445" cy="30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675" y="3707446"/>
            <a:ext cx="11674998" cy="170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729"/>
              </a:lnSpc>
              <a:buNone/>
            </a:pPr>
            <a:r>
              <a:rPr lang="en-US" sz="63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PREPARATION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047675" y="5752269"/>
            <a:ext cx="1428750" cy="7616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5" name="Text 3"/>
          <p:cNvSpPr/>
          <p:nvPr/>
        </p:nvSpPr>
        <p:spPr>
          <a:xfrm>
            <a:off x="1047675" y="6171239"/>
            <a:ext cx="7456092" cy="977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23"/>
              </a:lnSpc>
              <a:buNone/>
            </a:pPr>
            <a:r>
              <a:rPr lang="en-US" sz="255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trustworthy foundation before any analysis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2954049" y="0"/>
            <a:ext cx="5333924" cy="10286899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7" name="Text 5"/>
          <p:cNvSpPr/>
          <p:nvPr/>
        </p:nvSpPr>
        <p:spPr>
          <a:xfrm>
            <a:off x="15228243" y="4050876"/>
            <a:ext cx="2330886" cy="2223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6385A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761900"/>
            <a:ext cx="17811887" cy="6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12"/>
              </a:lnSpc>
              <a:buNone/>
            </a:pPr>
            <a:r>
              <a:rPr lang="en-US" sz="4350" b="1" spc="-75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— What I Checked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675" y="1570324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4" name="Shape 2"/>
          <p:cNvSpPr/>
          <p:nvPr/>
        </p:nvSpPr>
        <p:spPr>
          <a:xfrm>
            <a:off x="1047675" y="2453413"/>
            <a:ext cx="16192624" cy="24013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5" name="Text 3"/>
          <p:cNvSpPr/>
          <p:nvPr/>
        </p:nvSpPr>
        <p:spPr>
          <a:xfrm>
            <a:off x="1885740" y="2017934"/>
            <a:ext cx="4797280" cy="30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51689" y="2017934"/>
            <a:ext cx="5939543" cy="30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56058" y="2017934"/>
            <a:ext cx="5482528" cy="30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675" y="3391780"/>
            <a:ext cx="16192624" cy="9525"/>
          </a:xfrm>
          <a:prstGeom prst="rect">
            <a:avLst/>
          </a:prstGeom>
          <a:solidFill>
            <a:srgbClr val="DFE5EA"/>
          </a:solidFill>
          <a:ln/>
        </p:spPr>
      </p:sp>
      <p:sp>
        <p:nvSpPr>
          <p:cNvPr id="9" name="Shape 7"/>
          <p:cNvSpPr/>
          <p:nvPr/>
        </p:nvSpPr>
        <p:spPr>
          <a:xfrm>
            <a:off x="1047675" y="2725055"/>
            <a:ext cx="419095" cy="419095"/>
          </a:xfrm>
          <a:prstGeom prst="ellipse">
            <a:avLst/>
          </a:prstGeom>
          <a:solidFill>
            <a:srgbClr val="16385A"/>
          </a:solidFill>
          <a:ln/>
        </p:spPr>
      </p:sp>
      <p:sp>
        <p:nvSpPr>
          <p:cNvPr id="10" name="Text 8"/>
          <p:cNvSpPr/>
          <p:nvPr/>
        </p:nvSpPr>
        <p:spPr>
          <a:xfrm>
            <a:off x="1009575" y="2725055"/>
            <a:ext cx="495295" cy="457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885740" y="2778458"/>
            <a:ext cx="4797280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 &amp; order IDs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6551689" y="2782460"/>
            <a:ext cx="5939543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found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2256058" y="2782460"/>
            <a:ext cx="5482528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 needed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047675" y="4503364"/>
            <a:ext cx="16192624" cy="9525"/>
          </a:xfrm>
          <a:prstGeom prst="rect">
            <a:avLst/>
          </a:prstGeom>
          <a:solidFill>
            <a:srgbClr val="DFE5E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675" y="3741964"/>
            <a:ext cx="419095" cy="419095"/>
          </a:xfrm>
          <a:prstGeom prst="ellipse">
            <a:avLst/>
          </a:prstGeom>
          <a:solidFill>
            <a:srgbClr val="16385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9575" y="3741964"/>
            <a:ext cx="495295" cy="457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885740" y="3795492"/>
            <a:ext cx="4797280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/ missing values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6551689" y="3799494"/>
            <a:ext cx="5939543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column: 17 products stored “N/A” as text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2256058" y="3647415"/>
            <a:ext cx="5133640" cy="646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 as intentional string — not a real null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47675" y="5425723"/>
            <a:ext cx="16192624" cy="9525"/>
          </a:xfrm>
          <a:prstGeom prst="rect">
            <a:avLst/>
          </a:prstGeom>
          <a:solidFill>
            <a:srgbClr val="DFE5E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675" y="4758998"/>
            <a:ext cx="419095" cy="419095"/>
          </a:xfrm>
          <a:prstGeom prst="ellipse">
            <a:avLst/>
          </a:prstGeom>
          <a:solidFill>
            <a:srgbClr val="16385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9575" y="4758998"/>
            <a:ext cx="495295" cy="457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885740" y="4812401"/>
            <a:ext cx="4797280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Referential integrity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6551689" y="4816403"/>
            <a:ext cx="5939543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order product IDs matched catalog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2256058" y="4816403"/>
            <a:ext cx="5482528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 needed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047675" y="6348082"/>
            <a:ext cx="16192624" cy="9525"/>
          </a:xfrm>
          <a:prstGeom prst="rect">
            <a:avLst/>
          </a:prstGeom>
          <a:solidFill>
            <a:srgbClr val="DFE5E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7675" y="5681357"/>
            <a:ext cx="419095" cy="419095"/>
          </a:xfrm>
          <a:prstGeom prst="ellipse">
            <a:avLst/>
          </a:prstGeom>
          <a:solidFill>
            <a:srgbClr val="16385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9575" y="5681357"/>
            <a:ext cx="495295" cy="457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885740" y="5734760"/>
            <a:ext cx="4797280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sequencing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6551689" y="5738762"/>
            <a:ext cx="5939543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shipping dates before order dates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2256058" y="5738762"/>
            <a:ext cx="5482528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action needed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047675" y="7270441"/>
            <a:ext cx="16192624" cy="9525"/>
          </a:xfrm>
          <a:prstGeom prst="rect">
            <a:avLst/>
          </a:prstGeom>
          <a:solidFill>
            <a:srgbClr val="DFE5E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7675" y="6603716"/>
            <a:ext cx="419095" cy="419095"/>
          </a:xfrm>
          <a:prstGeom prst="ellipse">
            <a:avLst/>
          </a:prstGeom>
          <a:solidFill>
            <a:srgbClr val="E8722C"/>
          </a:solidFill>
          <a:ln/>
        </p:spPr>
      </p:sp>
      <p:sp>
        <p:nvSpPr>
          <p:cNvPr id="34" name="Text 32"/>
          <p:cNvSpPr/>
          <p:nvPr/>
        </p:nvSpPr>
        <p:spPr>
          <a:xfrm>
            <a:off x="1009575" y="6603716"/>
            <a:ext cx="495295" cy="457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885740" y="6657119"/>
            <a:ext cx="4797280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 products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6551689" y="6661121"/>
            <a:ext cx="5939543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products (Sports, Books) had zero orders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2256058" y="6661121"/>
            <a:ext cx="5482528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— catalog must stay complete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3411416"/>
            <a:ext cx="12468445" cy="30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675" y="3942194"/>
            <a:ext cx="11674998" cy="170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729"/>
              </a:lnSpc>
              <a:buNone/>
            </a:pPr>
            <a:r>
              <a:rPr lang="en-US" sz="63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ANALYSIS &amp; KEY FINDINGS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047675" y="5987018"/>
            <a:ext cx="1428750" cy="7616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5" name="Text 3"/>
          <p:cNvSpPr/>
          <p:nvPr/>
        </p:nvSpPr>
        <p:spPr>
          <a:xfrm>
            <a:off x="1047675" y="6405987"/>
            <a:ext cx="7962817" cy="507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23"/>
              </a:lnSpc>
              <a:buNone/>
            </a:pPr>
            <a:r>
              <a:rPr lang="en-US" sz="255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the order lifecycle to find revenue leaks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2954049" y="0"/>
            <a:ext cx="5333924" cy="10286899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7" name="Text 5"/>
          <p:cNvSpPr/>
          <p:nvPr/>
        </p:nvSpPr>
        <p:spPr>
          <a:xfrm>
            <a:off x="15228243" y="4050876"/>
            <a:ext cx="2330886" cy="2223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6385A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761900"/>
            <a:ext cx="17811887" cy="6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12"/>
              </a:lnSpc>
              <a:buNone/>
            </a:pPr>
            <a:r>
              <a:rPr lang="en-US" sz="4350" b="1" spc="-75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675" y="1570324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4" name="Shape 2"/>
          <p:cNvSpPr/>
          <p:nvPr/>
        </p:nvSpPr>
        <p:spPr>
          <a:xfrm>
            <a:off x="1047675" y="2094099"/>
            <a:ext cx="3819505" cy="1888241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5" name="Text 3"/>
          <p:cNvSpPr/>
          <p:nvPr/>
        </p:nvSpPr>
        <p:spPr>
          <a:xfrm>
            <a:off x="1371470" y="2456039"/>
            <a:ext cx="3489106" cy="78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55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371470" y="3332249"/>
            <a:ext cx="3489106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171965" y="2094099"/>
            <a:ext cx="3819630" cy="1888241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8" name="Text 6"/>
          <p:cNvSpPr/>
          <p:nvPr/>
        </p:nvSpPr>
        <p:spPr>
          <a:xfrm>
            <a:off x="5495759" y="2456039"/>
            <a:ext cx="3489244" cy="78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55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5495759" y="3332249"/>
            <a:ext cx="3489244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CUSTOMERS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96380" y="2094099"/>
            <a:ext cx="3819505" cy="1888241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11" name="Text 9"/>
          <p:cNvSpPr/>
          <p:nvPr/>
        </p:nvSpPr>
        <p:spPr>
          <a:xfrm>
            <a:off x="9620174" y="2456039"/>
            <a:ext cx="3489106" cy="78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55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9620174" y="3332249"/>
            <a:ext cx="3489106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PRODUCTS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420669" y="2094099"/>
            <a:ext cx="3819630" cy="1888241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44465" y="2456039"/>
            <a:ext cx="3489244" cy="78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55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13744465" y="3332249"/>
            <a:ext cx="3489244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47675" y="4534755"/>
            <a:ext cx="17811887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75" kern="0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 DISTRIBUTION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47675" y="5188598"/>
            <a:ext cx="2828897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3886040" y="5171715"/>
            <a:ext cx="11849470" cy="3619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886040" y="5171715"/>
            <a:ext cx="11849470" cy="361940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8334" y="5164586"/>
            <a:ext cx="1361965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43.3%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47675" y="5774281"/>
            <a:ext cx="2828897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3886040" y="5757397"/>
            <a:ext cx="11849470" cy="3619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3" name="Shape 21"/>
          <p:cNvSpPr/>
          <p:nvPr/>
        </p:nvSpPr>
        <p:spPr>
          <a:xfrm>
            <a:off x="3886040" y="5757397"/>
            <a:ext cx="4028740" cy="36194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24" name="Text 22"/>
          <p:cNvSpPr/>
          <p:nvPr/>
        </p:nvSpPr>
        <p:spPr>
          <a:xfrm>
            <a:off x="15878334" y="5750268"/>
            <a:ext cx="1361965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047675" y="6359963"/>
            <a:ext cx="2828897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3886040" y="6343079"/>
            <a:ext cx="11849470" cy="3619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886040" y="6343079"/>
            <a:ext cx="3910302" cy="36194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28" name="Text 26"/>
          <p:cNvSpPr/>
          <p:nvPr/>
        </p:nvSpPr>
        <p:spPr>
          <a:xfrm>
            <a:off x="15878334" y="6335950"/>
            <a:ext cx="1361965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047675" y="6945646"/>
            <a:ext cx="2828897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3886040" y="6928762"/>
            <a:ext cx="11849470" cy="3619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886040" y="6928762"/>
            <a:ext cx="3791740" cy="361940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32" name="Text 30"/>
          <p:cNvSpPr/>
          <p:nvPr/>
        </p:nvSpPr>
        <p:spPr>
          <a:xfrm>
            <a:off x="15878334" y="6921633"/>
            <a:ext cx="1361965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47675" y="7531328"/>
            <a:ext cx="2828897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3886040" y="7514444"/>
            <a:ext cx="11849470" cy="3619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040" y="7514444"/>
            <a:ext cx="3791740" cy="361940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36" name="Text 34"/>
          <p:cNvSpPr/>
          <p:nvPr/>
        </p:nvSpPr>
        <p:spPr>
          <a:xfrm>
            <a:off x="15878334" y="7507316"/>
            <a:ext cx="1361965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4874" cy="10286899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3" name="Text 1"/>
          <p:cNvSpPr/>
          <p:nvPr/>
        </p:nvSpPr>
        <p:spPr>
          <a:xfrm>
            <a:off x="1047675" y="3279346"/>
            <a:ext cx="7229419" cy="1581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834"/>
              </a:lnSpc>
              <a:buNone/>
            </a:pPr>
            <a:r>
              <a:rPr lang="en-US" sz="135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3500" dirty="0"/>
          </a:p>
        </p:txBody>
      </p:sp>
      <p:sp>
        <p:nvSpPr>
          <p:cNvPr id="4" name="Text 2"/>
          <p:cNvSpPr/>
          <p:nvPr/>
        </p:nvSpPr>
        <p:spPr>
          <a:xfrm>
            <a:off x="1047675" y="5089046"/>
            <a:ext cx="7229419" cy="507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19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revenue comes from </a:t>
            </a:r>
            <a:pPr algn="l" indent="0" marL="0">
              <a:lnSpc>
                <a:spcPct val="120519"/>
              </a:lnSpc>
              <a:buNone/>
            </a:pPr>
            <a:r>
              <a:rPr lang="en-US" sz="2550" b="1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alone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047675" y="5901097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6" name="Text 4"/>
          <p:cNvSpPr/>
          <p:nvPr/>
        </p:nvSpPr>
        <p:spPr>
          <a:xfrm>
            <a:off x="1047675" y="6234397"/>
            <a:ext cx="6769365" cy="811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42"/>
              </a:lnSpc>
              <a:buNone/>
            </a:pPr>
            <a:r>
              <a:rPr lang="en-US" sz="210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 — one category dominates the revenue mix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191599" y="2135871"/>
            <a:ext cx="7753569" cy="57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17"/>
              </a:lnSpc>
              <a:buNone/>
            </a:pPr>
            <a:r>
              <a:rPr lang="en-US" sz="3900" b="1" spc="-60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Category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10191599" y="2899147"/>
            <a:ext cx="10476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9" name="Text 7"/>
          <p:cNvSpPr/>
          <p:nvPr/>
        </p:nvSpPr>
        <p:spPr>
          <a:xfrm>
            <a:off x="10191599" y="3555116"/>
            <a:ext cx="1742215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6477649" y="3499087"/>
            <a:ext cx="838850" cy="4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191599" y="4072638"/>
            <a:ext cx="7048699" cy="304785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1599" y="4072638"/>
            <a:ext cx="7048699" cy="30478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13" name="Text 11"/>
          <p:cNvSpPr/>
          <p:nvPr/>
        </p:nvSpPr>
        <p:spPr>
          <a:xfrm>
            <a:off x="10191599" y="4491608"/>
            <a:ext cx="7753569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$835K estimated revenue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0191599" y="5232746"/>
            <a:ext cx="1264449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6477649" y="5176717"/>
            <a:ext cx="838850" cy="4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0191599" y="5750268"/>
            <a:ext cx="7048699" cy="304785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91599" y="5750268"/>
            <a:ext cx="1973536" cy="304785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91599" y="6169238"/>
            <a:ext cx="7753569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$233K estimated revenue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0191599" y="6910377"/>
            <a:ext cx="2574114" cy="414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Kitchen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6477649" y="6854348"/>
            <a:ext cx="838850" cy="4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0191599" y="7427899"/>
            <a:ext cx="7048699" cy="304785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91599" y="7427899"/>
            <a:ext cx="1339203" cy="304785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1599" y="7846869"/>
            <a:ext cx="7753569" cy="34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$159K estimated revenue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801045"/>
            <a:ext cx="6232021" cy="6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12"/>
              </a:lnSpc>
              <a:buNone/>
            </a:pPr>
            <a:r>
              <a:rPr lang="en-US" sz="4350" b="1" spc="-75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Trend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675" y="1609470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4" name="Shape 2"/>
          <p:cNvSpPr/>
          <p:nvPr/>
        </p:nvSpPr>
        <p:spPr>
          <a:xfrm>
            <a:off x="12007552" y="761900"/>
            <a:ext cx="5232746" cy="91423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5" name="Text 3"/>
          <p:cNvSpPr/>
          <p:nvPr/>
        </p:nvSpPr>
        <p:spPr>
          <a:xfrm>
            <a:off x="12331347" y="971385"/>
            <a:ext cx="1408739" cy="53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26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783360" y="1163486"/>
            <a:ext cx="3446459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3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 DECEMBER SPIKE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675" y="2018935"/>
            <a:ext cx="13620749" cy="406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year-round at roughly $95–105K per month, with a single December lift.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675" y="2672778"/>
            <a:ext cx="16192624" cy="68902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761900"/>
            <a:ext cx="17811887" cy="6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12"/>
              </a:lnSpc>
              <a:buNone/>
            </a:pPr>
            <a:r>
              <a:rPr lang="en-US" sz="4350" b="1" spc="-75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Methods &amp; Revenue Loss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675" y="1570324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4" name="Text 2"/>
          <p:cNvSpPr/>
          <p:nvPr/>
        </p:nvSpPr>
        <p:spPr>
          <a:xfrm>
            <a:off x="1047675" y="2132244"/>
            <a:ext cx="7894719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75" kern="0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 SPLIT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675" y="2808224"/>
            <a:ext cx="6700455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Pay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291292" y="2800220"/>
            <a:ext cx="933400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675" y="3400035"/>
            <a:ext cx="6700455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Debit Card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291292" y="3392030"/>
            <a:ext cx="933400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7675" y="3991845"/>
            <a:ext cx="6700455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PayPal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291292" y="3983841"/>
            <a:ext cx="933400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47675" y="4583656"/>
            <a:ext cx="6700455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91292" y="4575652"/>
            <a:ext cx="933400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47675" y="5175467"/>
            <a:ext cx="6700455" cy="366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Pay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291292" y="5167462"/>
            <a:ext cx="933400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47675" y="5892593"/>
            <a:ext cx="7177017" cy="24013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675" y="6164255"/>
            <a:ext cx="7392328" cy="811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42"/>
              </a:lnSpc>
              <a:buNone/>
            </a:pPr>
            <a:r>
              <a:rPr lang="en-US" sz="210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 five-way split — payment method is not a driver of drop-off.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986592" y="2132244"/>
            <a:ext cx="8253582" cy="7430776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18" name="Text 16"/>
          <p:cNvSpPr/>
          <p:nvPr/>
        </p:nvSpPr>
        <p:spPr>
          <a:xfrm>
            <a:off x="9500862" y="2627504"/>
            <a:ext cx="7947546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75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LOST TO DROP-OFFS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500862" y="3295480"/>
            <a:ext cx="2348770" cy="1104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94"/>
              </a:lnSpc>
              <a:buNone/>
            </a:pPr>
            <a:r>
              <a:rPr lang="en-US" sz="84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8400" dirty="0"/>
          </a:p>
        </p:txBody>
      </p:sp>
      <p:sp>
        <p:nvSpPr>
          <p:cNvPr id="20" name="Text 18"/>
          <p:cNvSpPr/>
          <p:nvPr/>
        </p:nvSpPr>
        <p:spPr>
          <a:xfrm>
            <a:off x="11845592" y="3895795"/>
            <a:ext cx="3335603" cy="80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49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orders end as returns or cancellations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00862" y="5620825"/>
            <a:ext cx="7225042" cy="9525"/>
          </a:xfrm>
          <a:prstGeom prst="rect">
            <a:avLst/>
          </a:prstGeom>
          <a:solidFill>
            <a:srgbClr val="2C5379"/>
          </a:solidFill>
          <a:ln/>
        </p:spPr>
      </p:sp>
      <p:sp>
        <p:nvSpPr>
          <p:cNvPr id="22" name="Text 20"/>
          <p:cNvSpPr/>
          <p:nvPr/>
        </p:nvSpPr>
        <p:spPr>
          <a:xfrm>
            <a:off x="9500862" y="5140323"/>
            <a:ext cx="6795104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5602029" y="5124315"/>
            <a:ext cx="1123875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00862" y="6315815"/>
            <a:ext cx="7225042" cy="9525"/>
          </a:xfrm>
          <a:prstGeom prst="rect">
            <a:avLst/>
          </a:prstGeom>
          <a:solidFill>
            <a:srgbClr val="2C5379"/>
          </a:solidFill>
          <a:ln/>
        </p:spPr>
      </p:sp>
      <p:sp>
        <p:nvSpPr>
          <p:cNvPr id="25" name="Text 23"/>
          <p:cNvSpPr/>
          <p:nvPr/>
        </p:nvSpPr>
        <p:spPr>
          <a:xfrm>
            <a:off x="9500862" y="5835313"/>
            <a:ext cx="6795104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5602029" y="5819305"/>
            <a:ext cx="1123875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500862" y="7010805"/>
            <a:ext cx="7225042" cy="9525"/>
          </a:xfrm>
          <a:prstGeom prst="rect">
            <a:avLst/>
          </a:prstGeom>
          <a:solidFill>
            <a:srgbClr val="2C5379"/>
          </a:solidFill>
          <a:ln/>
        </p:spPr>
      </p:sp>
      <p:sp>
        <p:nvSpPr>
          <p:cNvPr id="28" name="Text 26"/>
          <p:cNvSpPr/>
          <p:nvPr/>
        </p:nvSpPr>
        <p:spPr>
          <a:xfrm>
            <a:off x="9500862" y="6530303"/>
            <a:ext cx="6795104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(unrealized)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15602029" y="6514294"/>
            <a:ext cx="1123875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500862" y="7225292"/>
            <a:ext cx="6795104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(unrealized)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5602029" y="7209284"/>
            <a:ext cx="1123875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3411416"/>
            <a:ext cx="12468445" cy="30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675" y="3942194"/>
            <a:ext cx="11674998" cy="170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729"/>
              </a:lnSpc>
              <a:buNone/>
            </a:pPr>
            <a:r>
              <a:rPr lang="en-US" sz="63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047675" y="5987018"/>
            <a:ext cx="1428750" cy="7616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5" name="Text 3"/>
          <p:cNvSpPr/>
          <p:nvPr/>
        </p:nvSpPr>
        <p:spPr>
          <a:xfrm>
            <a:off x="1047675" y="6405987"/>
            <a:ext cx="7962817" cy="507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23"/>
              </a:lnSpc>
              <a:buNone/>
            </a:pPr>
            <a:r>
              <a:rPr lang="en-US" sz="255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findings into actionable next steps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2954049" y="0"/>
            <a:ext cx="5333924" cy="10286899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7" name="Text 5"/>
          <p:cNvSpPr/>
          <p:nvPr/>
        </p:nvSpPr>
        <p:spPr>
          <a:xfrm>
            <a:off x="15228243" y="4050876"/>
            <a:ext cx="2330886" cy="2223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6385A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761900"/>
            <a:ext cx="17811887" cy="6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12"/>
              </a:lnSpc>
              <a:buNone/>
            </a:pPr>
            <a:r>
              <a:rPr lang="en-US" sz="4350" b="1" spc="-75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Data-Backed Recommendations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675" y="1570324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4" name="Shape 2"/>
          <p:cNvSpPr/>
          <p:nvPr/>
        </p:nvSpPr>
        <p:spPr>
          <a:xfrm>
            <a:off x="1047675" y="2151254"/>
            <a:ext cx="914355" cy="91435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5" name="Text 3"/>
          <p:cNvSpPr/>
          <p:nvPr/>
        </p:nvSpPr>
        <p:spPr>
          <a:xfrm>
            <a:off x="1009575" y="2151254"/>
            <a:ext cx="990555" cy="95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675" y="3389404"/>
            <a:ext cx="5602078" cy="454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6"/>
              </a:lnSpc>
              <a:buNone/>
            </a:pPr>
            <a:r>
              <a:rPr lang="en-US" sz="28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29% Revenue Leak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675" y="4034117"/>
            <a:ext cx="5245582" cy="2837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26"/>
              </a:lnSpc>
              <a:buNone/>
            </a:pPr>
            <a:r>
              <a:rPr lang="en-US" sz="2100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(14.3%) plus cancellations (14.7%) mean 29% of orders never convert to realized revenue. Investigate whether they cluster around specific products, price points, or fulfillment delays — closing this leak returns more than any new acquisition spend.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97588" y="2151254"/>
            <a:ext cx="914355" cy="914355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9" name="Text 7"/>
          <p:cNvSpPr/>
          <p:nvPr/>
        </p:nvSpPr>
        <p:spPr>
          <a:xfrm>
            <a:off x="6559488" y="2151254"/>
            <a:ext cx="990555" cy="95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597588" y="3389404"/>
            <a:ext cx="5245582" cy="87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6"/>
              </a:lnSpc>
              <a:buNone/>
            </a:pPr>
            <a:r>
              <a:rPr lang="en-US" sz="28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Category Concentration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597588" y="4450336"/>
            <a:ext cx="5245582" cy="203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26"/>
              </a:lnSpc>
              <a:buNone/>
            </a:pPr>
            <a:r>
              <a:rPr lang="en-US" sz="2100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carries 68% of revenue — a fragile single-category dependency. Clothing and Home &amp; Kitchen need targeted promotional investment to build a revenue cushion and reduce exposure.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47500" y="2151254"/>
            <a:ext cx="914355" cy="914355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13" name="Text 11"/>
          <p:cNvSpPr/>
          <p:nvPr/>
        </p:nvSpPr>
        <p:spPr>
          <a:xfrm>
            <a:off x="12109400" y="2151254"/>
            <a:ext cx="990555" cy="952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147500" y="3389404"/>
            <a:ext cx="5602078" cy="454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6"/>
              </a:lnSpc>
              <a:buNone/>
            </a:pPr>
            <a:r>
              <a:rPr lang="en-US" sz="285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Mid-Year Revenue Plan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147500" y="4034117"/>
            <a:ext cx="5245582" cy="203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26"/>
              </a:lnSpc>
              <a:buNone/>
            </a:pPr>
            <a:r>
              <a:rPr lang="en-US" sz="2100" dirty="0">
                <a:solidFill>
                  <a:srgbClr val="4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flat from January through November at roughly $95–105K per month. A Q2 and Q3 promotional campaign would reduce December dependency and smooth cash flow across the year.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761900"/>
            <a:ext cx="17811887" cy="6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12"/>
              </a:lnSpc>
              <a:buNone/>
            </a:pPr>
            <a:r>
              <a:rPr lang="en-US" sz="4350" b="1" spc="-75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675" y="1570324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4" name="Shape 2"/>
          <p:cNvSpPr/>
          <p:nvPr/>
        </p:nvSpPr>
        <p:spPr>
          <a:xfrm>
            <a:off x="1047675" y="2075089"/>
            <a:ext cx="7952174" cy="632832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5" name="Text 3"/>
          <p:cNvSpPr/>
          <p:nvPr/>
        </p:nvSpPr>
        <p:spPr>
          <a:xfrm>
            <a:off x="1295325" y="2227489"/>
            <a:ext cx="7695439" cy="366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VISUALS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675" y="3009580"/>
            <a:ext cx="3038420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038370" y="2993571"/>
            <a:ext cx="5457627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orders, avg order value, customers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675" y="3512218"/>
            <a:ext cx="3038420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Funnel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38370" y="3496210"/>
            <a:ext cx="5457627" cy="350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from Processing → Delivered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675" y="4014857"/>
            <a:ext cx="3038420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Donut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4038370" y="3998849"/>
            <a:ext cx="5457627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concentration vs. other categories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47675" y="4517496"/>
            <a:ext cx="3038420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4038370" y="4501488"/>
            <a:ext cx="5457627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volume and revenue, Jan–Dec 2024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675" y="5020135"/>
            <a:ext cx="3038420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Status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4038370" y="5004127"/>
            <a:ext cx="5457627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realized vs. lost per status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47675" y="5522774"/>
            <a:ext cx="3038420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Split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4038370" y="5506766"/>
            <a:ext cx="5457627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count by payment method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675" y="6025412"/>
            <a:ext cx="3038420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4038370" y="6009404"/>
            <a:ext cx="5457627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Year, category, status — cross-filter all visuals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666574" y="2075089"/>
            <a:ext cx="7573725" cy="632832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21" name="Text 19"/>
          <p:cNvSpPr/>
          <p:nvPr/>
        </p:nvSpPr>
        <p:spPr>
          <a:xfrm>
            <a:off x="9914224" y="2227489"/>
            <a:ext cx="7305637" cy="366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WORKBOOK TABS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66574" y="3009580"/>
            <a:ext cx="2619375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Data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2276318" y="2993571"/>
            <a:ext cx="5460379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cleaned rows with category merged in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666574" y="3512218"/>
            <a:ext cx="2619375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Data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2276318" y="3496210"/>
            <a:ext cx="5460379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20-row product catalog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666574" y="4014857"/>
            <a:ext cx="2619375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Tables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2276318" y="3998849"/>
            <a:ext cx="5112900" cy="630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status, category revenue, payment split, monthly trend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666574" y="4797643"/>
            <a:ext cx="2619375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Dashboard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2276318" y="4781635"/>
            <a:ext cx="5460379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embedded Excel charts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666574" y="5512894"/>
            <a:ext cx="7573725" cy="1689762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1" name="Shape 29"/>
          <p:cNvSpPr/>
          <p:nvPr/>
        </p:nvSpPr>
        <p:spPr>
          <a:xfrm>
            <a:off x="9666574" y="5512894"/>
            <a:ext cx="80042" cy="1689762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1416" y="5798644"/>
            <a:ext cx="7111295" cy="1156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15"/>
              </a:lnSpc>
              <a:buNone/>
            </a:pPr>
            <a:r>
              <a:rPr lang="en-US" sz="20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in this deck traces back to a summary table in the workbook — no numbers were estimated outside the source data.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761900"/>
            <a:ext cx="17811887" cy="618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712"/>
              </a:lnSpc>
              <a:buNone/>
            </a:pPr>
            <a:r>
              <a:rPr lang="en-US" sz="4350" b="1" spc="-75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Demonstrated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047675" y="1570324"/>
            <a:ext cx="1142975" cy="66660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4" name="Shape 2"/>
          <p:cNvSpPr/>
          <p:nvPr/>
        </p:nvSpPr>
        <p:spPr>
          <a:xfrm>
            <a:off x="1047675" y="2113234"/>
            <a:ext cx="5156206" cy="354386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47675" y="2113234"/>
            <a:ext cx="5156206" cy="72038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6" name="Text 4"/>
          <p:cNvSpPr/>
          <p:nvPr/>
        </p:nvSpPr>
        <p:spPr>
          <a:xfrm>
            <a:off x="1371470" y="2528077"/>
            <a:ext cx="4959478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470" y="3043598"/>
            <a:ext cx="4643875" cy="11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9"/>
              </a:lnSpc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handling, referential integrity checks, date validation, defensive trim, no-fabrication principle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65821" y="2113234"/>
            <a:ext cx="5156206" cy="354386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9" name="Shape 7"/>
          <p:cNvSpPr/>
          <p:nvPr/>
        </p:nvSpPr>
        <p:spPr>
          <a:xfrm>
            <a:off x="6565821" y="2113234"/>
            <a:ext cx="5156206" cy="72038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10" name="Text 8"/>
          <p:cNvSpPr/>
          <p:nvPr/>
        </p:nvSpPr>
        <p:spPr>
          <a:xfrm>
            <a:off x="6889616" y="2528077"/>
            <a:ext cx="4959478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89616" y="3043598"/>
            <a:ext cx="4643875" cy="11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9"/>
              </a:lnSpc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 distribution, category segmentation, payment method analysis, monthly trend identification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83967" y="2113234"/>
            <a:ext cx="5156206" cy="354386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83967" y="2113234"/>
            <a:ext cx="5156206" cy="72038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14" name="Text 12"/>
          <p:cNvSpPr/>
          <p:nvPr/>
        </p:nvSpPr>
        <p:spPr>
          <a:xfrm>
            <a:off x="12407762" y="2528077"/>
            <a:ext cx="4959478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Proficiency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407762" y="3043598"/>
            <a:ext cx="4643875" cy="11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9"/>
              </a:lnSpc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tables, embedded charts, multi-tab workbook organization, summary table design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675" y="6019034"/>
            <a:ext cx="5156206" cy="3543985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675" y="6019034"/>
            <a:ext cx="5156206" cy="72038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470" y="6433877"/>
            <a:ext cx="4959478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470" y="6949397"/>
            <a:ext cx="4643875" cy="11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9"/>
              </a:lnSpc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with slicers, cross-filtering, KPI cards, funnel, donut, line and bar charts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565821" y="6019034"/>
            <a:ext cx="5156206" cy="3543985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5821" y="6019034"/>
            <a:ext cx="5156206" cy="72038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22" name="Text 20"/>
          <p:cNvSpPr/>
          <p:nvPr/>
        </p:nvSpPr>
        <p:spPr>
          <a:xfrm>
            <a:off x="6889616" y="6433877"/>
            <a:ext cx="4959478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89616" y="6949397"/>
            <a:ext cx="4643875" cy="756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9"/>
              </a:lnSpc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raw data into three actionable recommendations tied to revenue impact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83967" y="6019034"/>
            <a:ext cx="5156206" cy="3543985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83967" y="6019034"/>
            <a:ext cx="5156206" cy="72038"/>
          </a:xfrm>
          <a:prstGeom prst="rect">
            <a:avLst/>
          </a:prstGeom>
          <a:solidFill>
            <a:srgbClr val="16385A"/>
          </a:solidFill>
          <a:ln/>
        </p:spPr>
      </p:sp>
      <p:sp>
        <p:nvSpPr>
          <p:cNvPr id="26" name="Text 24"/>
          <p:cNvSpPr/>
          <p:nvPr/>
        </p:nvSpPr>
        <p:spPr>
          <a:xfrm>
            <a:off x="12407762" y="6433877"/>
            <a:ext cx="4959478" cy="38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407762" y="6949397"/>
            <a:ext cx="4643875" cy="756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9"/>
              </a:lnSpc>
              <a:buNone/>
            </a:pPr>
            <a:r>
              <a:rPr lang="en-US" sz="1950" dirty="0">
                <a:solidFill>
                  <a:srgbClr val="5A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README, cleaning audit trail, and a visual guide for every deliverable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3176667"/>
            <a:ext cx="12468445" cy="30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FOUR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675" y="3707446"/>
            <a:ext cx="11674998" cy="170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729"/>
              </a:lnSpc>
              <a:buNone/>
            </a:pPr>
            <a:r>
              <a:rPr lang="en-US" sz="63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PREVIEW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047675" y="5752269"/>
            <a:ext cx="1428750" cy="7616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5" name="Text 3"/>
          <p:cNvSpPr/>
          <p:nvPr/>
        </p:nvSpPr>
        <p:spPr>
          <a:xfrm>
            <a:off x="1047675" y="6171239"/>
            <a:ext cx="7848599" cy="977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823"/>
              </a:lnSpc>
              <a:buNone/>
            </a:pPr>
            <a:r>
              <a:rPr lang="en-US" sz="255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with slicers, KPI cards, funnel analysis, and category breakdown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2954049" y="0"/>
            <a:ext cx="5333924" cy="10286899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7" name="Text 5"/>
          <p:cNvSpPr/>
          <p:nvPr/>
        </p:nvSpPr>
        <p:spPr>
          <a:xfrm>
            <a:off x="15228243" y="4050876"/>
            <a:ext cx="2330886" cy="2223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6385A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00" y="609570"/>
            <a:ext cx="7640559" cy="966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37" kern="0" dirty="0">
                <a:solidFill>
                  <a:srgbClr val="16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Funnel Dashboard — Power BI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8560868" y="801671"/>
            <a:ext cx="9234162" cy="58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13" kern="0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 · ORDER STATUS · MONTHLY TREND · CATEGORY · PAYMENTS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761900" y="1861852"/>
            <a:ext cx="16764174" cy="78536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1900" y="1861852"/>
            <a:ext cx="16764174" cy="88046"/>
          </a:xfrm>
          <a:prstGeom prst="rect">
            <a:avLst/>
          </a:prstGeom>
          <a:solidFill>
            <a:srgbClr val="1638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4115" r="-14115" t="0" b="0"/>
          <a:stretch/>
        </p:blipFill>
        <p:spPr>
          <a:xfrm>
            <a:off x="1009530" y="2197528"/>
            <a:ext cx="16268914" cy="72703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675" y="2337352"/>
            <a:ext cx="17811887" cy="10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57"/>
              </a:lnSpc>
              <a:buNone/>
            </a:pPr>
            <a:r>
              <a:rPr lang="en-US" sz="825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250" dirty="0"/>
          </a:p>
        </p:txBody>
      </p:sp>
      <p:sp>
        <p:nvSpPr>
          <p:cNvPr id="3" name="Shape 1"/>
          <p:cNvSpPr/>
          <p:nvPr/>
        </p:nvSpPr>
        <p:spPr>
          <a:xfrm>
            <a:off x="1047675" y="3766102"/>
            <a:ext cx="1428750" cy="76165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4" name="Text 2"/>
          <p:cNvSpPr/>
          <p:nvPr/>
        </p:nvSpPr>
        <p:spPr>
          <a:xfrm>
            <a:off x="1047675" y="4127917"/>
            <a:ext cx="17811887" cy="470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Funnel Analysis · Portfolio Project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047675" y="5379198"/>
            <a:ext cx="16192624" cy="24013"/>
          </a:xfrm>
          <a:prstGeom prst="rect">
            <a:avLst/>
          </a:prstGeom>
          <a:solidFill>
            <a:srgbClr val="2C5379"/>
          </a:solidFill>
          <a:ln/>
        </p:spPr>
      </p:sp>
      <p:sp>
        <p:nvSpPr>
          <p:cNvPr id="6" name="Text 4"/>
          <p:cNvSpPr/>
          <p:nvPr/>
        </p:nvSpPr>
        <p:spPr>
          <a:xfrm>
            <a:off x="1047675" y="5936491"/>
            <a:ext cx="4138585" cy="72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10"/>
              </a:lnSpc>
              <a:buNone/>
            </a:pPr>
            <a:r>
              <a:rPr lang="en-US" sz="54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47675" y="6736536"/>
            <a:ext cx="4138585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ANALYZED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0974" y="5936491"/>
            <a:ext cx="4138722" cy="72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10"/>
              </a:lnSpc>
              <a:buNone/>
            </a:pPr>
            <a:r>
              <a:rPr lang="en-US" sz="54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190974" y="6736536"/>
            <a:ext cx="4138722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34399" y="5936491"/>
            <a:ext cx="4138722" cy="72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10"/>
              </a:lnSpc>
              <a:buNone/>
            </a:pPr>
            <a:r>
              <a:rPr lang="en-US" sz="54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334399" y="6736536"/>
            <a:ext cx="4138722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477824" y="5936491"/>
            <a:ext cx="4138722" cy="72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10"/>
              </a:lnSpc>
              <a:buNone/>
            </a:pPr>
            <a:r>
              <a:rPr lang="en-US" sz="5400" b="1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3477824" y="6736536"/>
            <a:ext cx="4138722" cy="32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C6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675" y="7653267"/>
            <a:ext cx="17811887" cy="334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150" kern="0" dirty="0">
                <a:solidFill>
                  <a:srgbClr val="F4A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· POWER BI · NO-CODE ANALYSIS · BUSINESS STORYTELLING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2026-09-05T10:03:49Z</dcterms:created>
  <dcterms:modified xsi:type="dcterms:W3CDTF">2026-09-05T10:03:49Z</dcterms:modified>
</cp:coreProperties>
</file>