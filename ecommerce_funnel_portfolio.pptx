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</c:v>
                </c:pt>
                <c:pt idx="1">
                  <c:v>88</c:v>
                </c:pt>
                <c:pt idx="2">
                  <c:v>97</c:v>
                </c:pt>
                <c:pt idx="3">
                  <c:v>91</c:v>
                </c:pt>
                <c:pt idx="4">
                  <c:v>95</c:v>
                </c:pt>
                <c:pt idx="5">
                  <c:v>103</c:v>
                </c:pt>
                <c:pt idx="6">
                  <c:v>101</c:v>
                </c:pt>
                <c:pt idx="7">
                  <c:v>98</c:v>
                </c:pt>
                <c:pt idx="8">
                  <c:v>96</c:v>
                </c:pt>
                <c:pt idx="9">
                  <c:v>99</c:v>
                </c:pt>
                <c:pt idx="10">
                  <c:v>97</c:v>
                </c:pt>
                <c:pt idx="11">
                  <c:v>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90-44B4-AAF7-3B87D02021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93</c:v>
                </c:pt>
                <c:pt idx="1">
                  <c:v>90</c:v>
                </c:pt>
                <c:pt idx="2">
                  <c:v>95</c:v>
                </c:pt>
                <c:pt idx="3">
                  <c:v>92</c:v>
                </c:pt>
                <c:pt idx="4">
                  <c:v>96</c:v>
                </c:pt>
                <c:pt idx="5">
                  <c:v>102</c:v>
                </c:pt>
                <c:pt idx="6">
                  <c:v>100</c:v>
                </c:pt>
                <c:pt idx="7">
                  <c:v>97</c:v>
                </c:pt>
                <c:pt idx="8">
                  <c:v>94</c:v>
                </c:pt>
                <c:pt idx="9">
                  <c:v>98</c:v>
                </c:pt>
                <c:pt idx="10">
                  <c:v>96</c:v>
                </c:pt>
                <c:pt idx="11">
                  <c:v>121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90-44B4-AAF7-3B87D0202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5"/>
          <c:min val="7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A234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Debit Card</c:v>
                </c:pt>
                <c:pt idx="2">
                  <c:v>PayPal</c:v>
                </c:pt>
                <c:pt idx="3">
                  <c:v>Apple Pay</c:v>
                </c:pt>
                <c:pt idx="4">
                  <c:v>Google Pay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20.100000000000001</c:v>
                </c:pt>
                <c:pt idx="1">
                  <c:v>19.8</c:v>
                </c:pt>
                <c:pt idx="2">
                  <c:v>19.899999999999999</c:v>
                </c:pt>
                <c:pt idx="3">
                  <c:v>20.3</c:v>
                </c:pt>
                <c:pt idx="4">
                  <c:v>19.899999999999999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E8-4157-99CD-5AE835BA578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94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Funnel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Project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  ·  Power BI  ·  Data Cleaning  ·  Funnel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937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5,000 e-commerce orders across 800 unique customers and 15 actively ordered products.Goal: Map the full order lifecycle — from placement to delivery — and identify where revenue was being lost.Scope: Electronics, Clothing, and Home &amp; Kitchen categories across 2023–2024.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822960"/>
            <a:ext cx="3246120" cy="356616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960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23560" y="1463040"/>
            <a:ext cx="29718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4996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792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 tables, charts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2331720"/>
            <a:ext cx="29718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3682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660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slicers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3200400"/>
            <a:ext cx="29718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32369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35295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orders + 20-product catalog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Preparation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trustworthy foundation before any analysis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What I Checked &amp; Why It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96112"/>
            <a:ext cx="475488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877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&amp; Order IDs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52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987552"/>
            <a:ext cx="9144" cy="3474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87782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33088" y="877824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91056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82496"/>
            <a:ext cx="475488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824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Missing Values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column: 17 products stored "N/A" as 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773936"/>
            <a:ext cx="9144" cy="3474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3493008" y="1664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33088" y="1664208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as intentional string — not a real null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468880"/>
            <a:ext cx="475488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68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2450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724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order product IDs matched catalog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560320"/>
            <a:ext cx="9144" cy="3474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24505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33088" y="2450592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163824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255264"/>
            <a:ext cx="475488" cy="475488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55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3236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Sequencing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shipping dates before order dates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3346704"/>
            <a:ext cx="9144" cy="3474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Text 33"/>
          <p:cNvSpPr/>
          <p:nvPr/>
        </p:nvSpPr>
        <p:spPr>
          <a:xfrm>
            <a:off x="3493008" y="32369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33088" y="3236976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950208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041648"/>
            <a:ext cx="475488" cy="47548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5156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Products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products (Sports, Books) had zero orders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83280" y="4133088"/>
            <a:ext cx="9144" cy="3474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3493008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33088" y="4023360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catalog must stay complete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Key Findings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order lifecycle to find revenue leaks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 — Key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91440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1920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91440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32888" y="1536192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822960"/>
            <a:ext cx="1920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914400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90288" y="1536192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822960"/>
            <a:ext cx="224028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47688" y="914400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47688" y="1536192"/>
            <a:ext cx="2020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1488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Distribution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578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20240" y="2615184"/>
            <a:ext cx="5943600" cy="292608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2615184"/>
            <a:ext cx="2573579" cy="2926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4539539" y="2578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43.3%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20240" y="3099816"/>
            <a:ext cx="5943600" cy="292608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3099816"/>
            <a:ext cx="814273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2780233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5478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20240" y="3584448"/>
            <a:ext cx="5943600" cy="292608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3584448"/>
            <a:ext cx="832104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2798064" y="35478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0325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20240" y="4069080"/>
            <a:ext cx="5943600" cy="292608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4069080"/>
            <a:ext cx="849935" cy="2926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3" name="Text 31"/>
          <p:cNvSpPr/>
          <p:nvPr/>
        </p:nvSpPr>
        <p:spPr>
          <a:xfrm>
            <a:off x="2815895" y="40325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5171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920240" y="4553712"/>
            <a:ext cx="5943600" cy="292608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920240" y="4553712"/>
            <a:ext cx="873709" cy="292608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37" name="Text 35"/>
          <p:cNvSpPr/>
          <p:nvPr/>
        </p:nvSpPr>
        <p:spPr>
          <a:xfrm>
            <a:off x="2839669" y="4517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— Electronics Concentration Risk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474720" cy="384048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— one category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the revenue mix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822960"/>
            <a:ext cx="4663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822960"/>
            <a:ext cx="109728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9326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15968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$835K estimated revenue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1618488"/>
            <a:ext cx="4297680" cy="164592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5968" y="1618488"/>
            <a:ext cx="2860243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5727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103120"/>
            <a:ext cx="4663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2103120"/>
            <a:ext cx="109728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315968" y="22128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15968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 estimated revenue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15968" y="2898648"/>
            <a:ext cx="4297680" cy="164592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4315968" y="2898648"/>
            <a:ext cx="799186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28529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3383280"/>
            <a:ext cx="46634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0" y="3383280"/>
            <a:ext cx="109728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315968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15968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$159K estimated revenue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15968" y="4178808"/>
            <a:ext cx="4297680" cy="164592"/>
          </a:xfrm>
          <a:prstGeom prst="rect">
            <a:avLst/>
          </a:prstGeom>
          <a:solidFill>
            <a:srgbClr val="E0E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4315968" y="4178808"/>
            <a:ext cx="546811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549640" y="4133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— Flat Year-Round Except December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04672"/>
          <a:ext cx="8412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051560"/>
            <a:ext cx="2286000" cy="65836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7" name="Text 4"/>
          <p:cNvSpPr/>
          <p:nvPr/>
        </p:nvSpPr>
        <p:spPr>
          <a:xfrm>
            <a:off x="6492240" y="10515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MoM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spike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&amp; Revenue Loss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Split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70432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Drop-offs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70432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2618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orders = returns + cancellations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783080"/>
            <a:ext cx="256032" cy="25603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7647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0" y="1764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441448"/>
            <a:ext cx="256032" cy="256032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2423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0" y="2423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3099816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5120640" y="3081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(unrealized)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80960" y="3081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3758184"/>
            <a:ext cx="256032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3739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(unrealized)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0" y="3739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findings into actionable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Data-Backed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822960" cy="11887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04672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89611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29% Revenue Leak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26187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(14.3%) + cancellations (14.7%) represent a combined 29% order loss. Investigate whether these are tied to specific products, price points, or fulfillment delays. Reducing leakage has more ROI than any new acquisition effort.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76272"/>
            <a:ext cx="822960" cy="118872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76272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26771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Category Concentration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3347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carries 68% of revenue — a fragile single-category dependency. Clothing and Home &amp; Kitchen need targeted promotional investment to build a revenue cushion and reduce exposure.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47872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47872"/>
            <a:ext cx="822960" cy="1188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47872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63931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Mid-Year Revenue Strategy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00507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flat from January through November (~$95–105K/month). A Q2 and Q3 promotional campaign would reduce December dependency and smooth cash flow across the year.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&amp; Power BI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Visuals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07592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344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2344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orders, avg order value, customers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7282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Funnel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7282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from Processing → Delivered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95144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2219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Donut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221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concentration vs. other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7157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7157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+ revenue Jan–Dec 2024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2095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2095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realized vs. lost per 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7033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37033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by payment method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70248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19709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19709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category, status — cross-filter all visuals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8046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Tabs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234440"/>
            <a:ext cx="9144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307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16367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cleaned rows with category merged 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19456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194560"/>
            <a:ext cx="9144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267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25968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20-row product catalog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15468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154680"/>
            <a:ext cx="9144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278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355701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status, category revenue, payment split, monthly trend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11480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114800"/>
            <a:ext cx="9144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187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Dashboard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45171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embedded Excel charts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 in This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1605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98755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handling, referential integrity checks, date validation, defensive trim, no-fabrication principle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1605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98755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3350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distribution, category segmentation, payment method analysis, monthly trend identification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94560"/>
            <a:ext cx="4160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35915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Proficiency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27066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embedded charts, multi-tab workbook organization, summary table 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94560"/>
            <a:ext cx="416052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35915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7066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slicers, cross-filtering, KPI cards, funnel/donut/line/bar charts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66160"/>
            <a:ext cx="4160520" cy="73152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73075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0782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raw data into 3 actionable recommendations tied to revenue impact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2342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66160"/>
            <a:ext cx="416052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373075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40782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README, cleaning audit trail, visual guide for all deliverables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Funnel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6656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  ·  Power BI  ·  No-code analysis  ·  Business storytelling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741</Words>
  <Application>Microsoft Office PowerPoint</Application>
  <PresentationFormat>Diavetítés a képernyőre (16:9 oldalarány)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Marianna Cook</cp:lastModifiedBy>
  <cp:revision>3</cp:revision>
  <dcterms:created xsi:type="dcterms:W3CDTF">2026-08-14T12:40:51Z</dcterms:created>
  <dcterms:modified xsi:type="dcterms:W3CDTF">2026-08-31T16:14:46Z</dcterms:modified>
</cp:coreProperties>
</file>